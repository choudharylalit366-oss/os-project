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402000">
            <a:off x="367030" y="4237355"/>
            <a:ext cx="11774170" cy="2109470"/>
          </a:xfrm>
          <a:prstGeom prst="rect">
            <a:avLst/>
          </a:prstGeom>
          <a:solidFill>
            <a:srgbClr val="2B2E33"/>
          </a:solidFill>
        </p:spPr>
      </p:sp>
      <p:sp>
        <p:nvSpPr>
          <p:cNvPr id="3" name="Shape 1"/>
          <p:cNvSpPr/>
          <p:nvPr/>
        </p:nvSpPr>
        <p:spPr>
          <a:xfrm>
            <a:off x="10561320" y="822960"/>
            <a:ext cx="201168" cy="201168"/>
          </a:xfrm>
          <a:prstGeom prst="ellipse">
            <a:avLst/>
          </a:prstGeom>
          <a:solidFill>
            <a:srgbClr val="6B7280"/>
          </a:solidFill>
        </p:spPr>
      </p:sp>
      <p:sp>
        <p:nvSpPr>
          <p:cNvPr id="4" name="Shape 2"/>
          <p:cNvSpPr/>
          <p:nvPr/>
        </p:nvSpPr>
        <p:spPr>
          <a:xfrm>
            <a:off x="640080" y="777240"/>
            <a:ext cx="960120" cy="960120"/>
          </a:xfrm>
          <a:prstGeom prst="ellipse">
            <a:avLst/>
          </a:prstGeom>
          <a:solidFill>
            <a:srgbClr val="FF8A3D"/>
          </a:solidFill>
        </p:spPr>
      </p:sp>
      <p:pic>
        <p:nvPicPr>
          <p:cNvPr id="5" name="Image 0" descr="icons/indust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902513"/>
            <a:ext cx="710489" cy="7104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96012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PRODUCER–CONSUMER
</a:t>
            </a:r>
            <a:r>
              <a:rPr lang="en-US" sz="40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CONVEYOR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3703320"/>
            <a:ext cx="8686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Automated Material-Handling System Built on Arduino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4334256"/>
            <a:ext cx="20116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5431536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Members: </a:t>
            </a:r>
            <a:r>
              <a:rPr lang="en-US" sz="13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Lalit Choudhary And Mohamad Nisar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5751576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no.- </a:t>
            </a:r>
            <a:r>
              <a:rPr lang="en-US" sz="13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Ch.sc.u4cys25046 and Ch.sc.u4cys25053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6062472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/ Course: </a:t>
            </a:r>
            <a:r>
              <a:rPr lang="en-US" sz="13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Cyber Security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6364224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 &amp; Date: </a:t>
            </a:r>
            <a:r>
              <a:rPr lang="en-US" sz="13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Amrita Vishwa Vidyapeetham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78240" y="914400"/>
            <a:ext cx="24231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8778240" y="822960"/>
            <a:ext cx="201168" cy="201168"/>
          </a:xfrm>
          <a:prstGeom prst="ellipse">
            <a:avLst/>
          </a:prstGeom>
          <a:solidFill>
            <a:srgbClr val="FF8A3D"/>
          </a:solidFill>
        </p:spPr>
      </p:sp>
      <p:sp>
        <p:nvSpPr>
          <p:cNvPr id="15" name="Shape 12"/>
          <p:cNvSpPr/>
          <p:nvPr/>
        </p:nvSpPr>
        <p:spPr>
          <a:xfrm>
            <a:off x="9198864" y="822960"/>
            <a:ext cx="201168" cy="201168"/>
          </a:xfrm>
          <a:prstGeom prst="ellipse">
            <a:avLst/>
          </a:prstGeom>
          <a:solidFill>
            <a:srgbClr val="FF8A3D"/>
          </a:solidFill>
        </p:spPr>
      </p:sp>
      <p:sp>
        <p:nvSpPr>
          <p:cNvPr id="16" name="Shape 13"/>
          <p:cNvSpPr/>
          <p:nvPr/>
        </p:nvSpPr>
        <p:spPr>
          <a:xfrm>
            <a:off x="9610344" y="822960"/>
            <a:ext cx="201168" cy="201168"/>
          </a:xfrm>
          <a:prstGeom prst="ellipse">
            <a:avLst/>
          </a:prstGeom>
          <a:solidFill>
            <a:srgbClr val="6B7280"/>
          </a:solidFill>
        </p:spPr>
      </p:sp>
      <p:sp>
        <p:nvSpPr>
          <p:cNvPr id="17" name="Shape 14"/>
          <p:cNvSpPr/>
          <p:nvPr/>
        </p:nvSpPr>
        <p:spPr>
          <a:xfrm>
            <a:off x="10030968" y="822960"/>
            <a:ext cx="201168" cy="201168"/>
          </a:xfrm>
          <a:prstGeom prst="ellipse">
            <a:avLst/>
          </a:prstGeom>
          <a:solidFill>
            <a:srgbClr val="FF8A3D"/>
          </a:solidFill>
        </p:spPr>
      </p:sp>
      <p:sp>
        <p:nvSpPr>
          <p:cNvPr id="18" name="Shape 15"/>
          <p:cNvSpPr/>
          <p:nvPr/>
        </p:nvSpPr>
        <p:spPr>
          <a:xfrm>
            <a:off x="10442448" y="822960"/>
            <a:ext cx="201168" cy="201168"/>
          </a:xfrm>
          <a:prstGeom prst="ellipse">
            <a:avLst/>
          </a:prstGeom>
          <a:solidFill>
            <a:srgbClr val="FF8A3D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2412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27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a classic computing concept to a physical conveyor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8813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producer–consumer problem is a classic synchronization challenge from computer science and operating systems — here it is realized as a physical automation system using Arduino sensing and control.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1945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TERMS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606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icons/box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86207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502152"/>
            <a:ext cx="291693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831336"/>
            <a:ext cx="2916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Station that generates / places items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70248" y="2606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icons/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86207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502152"/>
            <a:ext cx="291693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Buffer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3831336"/>
            <a:ext cx="2916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Conveyor belt acting as shared storage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73568" y="2606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86207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502152"/>
            <a:ext cx="291693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3831336"/>
            <a:ext cx="291693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Station that receives / processes items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66928" y="45720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automate item transfer while preventing buffer overflow and underflow on the conveyor.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1463040" y="51663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2B2E33"/>
          </a:solidFill>
        </p:spPr>
      </p:sp>
      <p:sp>
        <p:nvSpPr>
          <p:cNvPr id="21" name="Text 16"/>
          <p:cNvSpPr/>
          <p:nvPr/>
        </p:nvSpPr>
        <p:spPr>
          <a:xfrm>
            <a:off x="1463040" y="527608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554480" y="5577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Places items onto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belt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895344" y="5582412"/>
            <a:ext cx="713232" cy="219456"/>
          </a:xfrm>
          <a:prstGeom prst="rightArrow">
            <a:avLst/>
          </a:prstGeom>
          <a:solidFill>
            <a:srgbClr val="6B7280"/>
          </a:solidFill>
        </p:spPr>
      </p:sp>
      <p:sp>
        <p:nvSpPr>
          <p:cNvPr id="24" name="Shape 19"/>
          <p:cNvSpPr/>
          <p:nvPr/>
        </p:nvSpPr>
        <p:spPr>
          <a:xfrm>
            <a:off x="4663440" y="51663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F8A3D"/>
          </a:solidFill>
        </p:spPr>
      </p:sp>
      <p:sp>
        <p:nvSpPr>
          <p:cNvPr id="25" name="Text 20"/>
          <p:cNvSpPr/>
          <p:nvPr/>
        </p:nvSpPr>
        <p:spPr>
          <a:xfrm>
            <a:off x="4663440" y="527608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CONVEYOR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754880" y="5577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buffer between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two stations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095744" y="5582412"/>
            <a:ext cx="713232" cy="219456"/>
          </a:xfrm>
          <a:prstGeom prst="rightArrow">
            <a:avLst/>
          </a:prstGeom>
          <a:solidFill>
            <a:srgbClr val="6B7280"/>
          </a:solidFill>
        </p:spPr>
      </p:sp>
      <p:sp>
        <p:nvSpPr>
          <p:cNvPr id="28" name="Shape 23"/>
          <p:cNvSpPr/>
          <p:nvPr/>
        </p:nvSpPr>
        <p:spPr>
          <a:xfrm>
            <a:off x="7863840" y="516636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2B2E33"/>
          </a:solidFill>
        </p:spPr>
      </p:sp>
      <p:sp>
        <p:nvSpPr>
          <p:cNvPr id="29" name="Text 24"/>
          <p:cNvSpPr/>
          <p:nvPr/>
        </p:nvSpPr>
        <p:spPr>
          <a:xfrm>
            <a:off x="7863840" y="527608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955280" y="5577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Receives and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processes items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27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 &amp;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300" dirty="0"/>
          </a:p>
        </p:txBody>
      </p:sp>
      <p:pic>
        <p:nvPicPr>
          <p:cNvPr id="4" name="Image 0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74520"/>
            <a:ext cx="4709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 working conveyor-based material handling model</a:t>
            </a:r>
            <a:endParaRPr lang="en-US" sz="1250" dirty="0"/>
          </a:p>
        </p:txBody>
      </p:sp>
      <p:pic>
        <p:nvPicPr>
          <p:cNvPr id="6" name="Image 1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81635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770632"/>
            <a:ext cx="4709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Synchronize producer and consumer stations using sensors</a:t>
            </a:r>
            <a:endParaRPr lang="en-US" sz="1250" dirty="0"/>
          </a:p>
        </p:txBody>
      </p:sp>
      <p:pic>
        <p:nvPicPr>
          <p:cNvPr id="8" name="Image 2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712464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666744"/>
            <a:ext cx="4709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 buffer overflow and underflow on the conveyor</a:t>
            </a:r>
            <a:endParaRPr lang="en-US" sz="1250" dirty="0"/>
          </a:p>
        </p:txBody>
      </p:sp>
      <p:pic>
        <p:nvPicPr>
          <p:cNvPr id="10" name="Image 3" descr="icons/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608576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4562856"/>
            <a:ext cx="47091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a real-world application of the producer–consumer problem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236208" y="1417320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</a:t>
            </a:r>
            <a:endParaRPr lang="en-US" sz="1300" dirty="0"/>
          </a:p>
        </p:txBody>
      </p:sp>
      <p:pic>
        <p:nvPicPr>
          <p:cNvPr id="13" name="Image 4" descr="icons/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20240"/>
            <a:ext cx="384048" cy="38404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84848" y="1883664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Widely used in industrial automation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784848" y="2176272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Packaging, sorting, and assembly lines rely on this exact pattern</a:t>
            </a:r>
            <a:endParaRPr lang="en-US" sz="1100" dirty="0"/>
          </a:p>
        </p:txBody>
      </p:sp>
      <p:pic>
        <p:nvPicPr>
          <p:cNvPr id="16" name="Image 5" descr="icons/micro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090672"/>
            <a:ext cx="384048" cy="38404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84848" y="3054096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Bridges theory and hardware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6784848" y="3346704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Turns an abstract OS/synchronization problem into a physical, testable system</a:t>
            </a:r>
            <a:endParaRPr lang="en-US" sz="1100" dirty="0"/>
          </a:p>
        </p:txBody>
      </p:sp>
      <p:pic>
        <p:nvPicPr>
          <p:cNvPr id="19" name="Image 6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4261104"/>
            <a:ext cx="384048" cy="3840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784848" y="4224528"/>
            <a:ext cx="4617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practical embedded skills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6784848" y="4517136"/>
            <a:ext cx="4617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interfacing, motor control, and real-time decision logic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27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physical stations, sensors, and controller map onto the producer–consumer model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682496" cy="1371600"/>
          </a:xfrm>
          <a:prstGeom prst="roundRect">
            <a:avLst>
              <a:gd name="adj" fmla="val 4667"/>
            </a:avLst>
          </a:prstGeom>
          <a:solidFill>
            <a:srgbClr val="2B2E33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cons/box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7802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953512"/>
            <a:ext cx="159105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0352" y="3319272"/>
            <a:ext cx="153619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placed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belt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194560" y="2926080"/>
            <a:ext cx="393192" cy="182880"/>
          </a:xfrm>
          <a:prstGeom prst="rightArrow">
            <a:avLst/>
          </a:prstGeom>
          <a:solidFill>
            <a:srgbClr val="6B7280"/>
          </a:solidFill>
        </p:spPr>
      </p:sp>
      <p:sp>
        <p:nvSpPr>
          <p:cNvPr id="10" name="Shape 7"/>
          <p:cNvSpPr/>
          <p:nvPr/>
        </p:nvSpPr>
        <p:spPr>
          <a:xfrm>
            <a:off x="2642616" y="2331720"/>
            <a:ext cx="1682496" cy="1371600"/>
          </a:xfrm>
          <a:prstGeom prst="roundRect">
            <a:avLst>
              <a:gd name="adj" fmla="val 4667"/>
            </a:avLst>
          </a:prstGeom>
          <a:solidFill>
            <a:srgbClr val="2B2E33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icons/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247802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88336" y="2953512"/>
            <a:ext cx="159105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SENSOR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715768" y="3319272"/>
            <a:ext cx="153619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incoming item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379976" y="2926080"/>
            <a:ext cx="393192" cy="182880"/>
          </a:xfrm>
          <a:prstGeom prst="rightArrow">
            <a:avLst/>
          </a:prstGeom>
          <a:solidFill>
            <a:srgbClr val="6B7280"/>
          </a:solidFill>
        </p:spPr>
      </p:sp>
      <p:sp>
        <p:nvSpPr>
          <p:cNvPr id="15" name="Shape 11"/>
          <p:cNvSpPr/>
          <p:nvPr/>
        </p:nvSpPr>
        <p:spPr>
          <a:xfrm>
            <a:off x="4828032" y="2331720"/>
            <a:ext cx="1682496" cy="1371600"/>
          </a:xfrm>
          <a:prstGeom prst="roundRect">
            <a:avLst>
              <a:gd name="adj" fmla="val 4667"/>
            </a:avLst>
          </a:prstGeom>
          <a:solidFill>
            <a:srgbClr val="FF8A3D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478024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73752" y="2953512"/>
            <a:ext cx="159105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CONVEYOR</a:t>
            </a:r>
            <a:endParaRPr lang="en-US" sz="10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(SHARED BUFFER)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901184" y="3319272"/>
            <a:ext cx="153619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Bounded-capacity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resource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6565392" y="2926080"/>
            <a:ext cx="393192" cy="182880"/>
          </a:xfrm>
          <a:prstGeom prst="rightArrow">
            <a:avLst/>
          </a:prstGeom>
          <a:solidFill>
            <a:srgbClr val="6B7280"/>
          </a:solidFill>
        </p:spPr>
      </p:sp>
      <p:sp>
        <p:nvSpPr>
          <p:cNvPr id="20" name="Shape 15"/>
          <p:cNvSpPr/>
          <p:nvPr/>
        </p:nvSpPr>
        <p:spPr>
          <a:xfrm>
            <a:off x="7013448" y="2331720"/>
            <a:ext cx="1682496" cy="1371600"/>
          </a:xfrm>
          <a:prstGeom prst="roundRect">
            <a:avLst>
              <a:gd name="adj" fmla="val 4667"/>
            </a:avLst>
          </a:prstGeom>
          <a:solidFill>
            <a:srgbClr val="2B2E33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icons/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247802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9168" y="2953512"/>
            <a:ext cx="159105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SENSOR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086600" y="3319272"/>
            <a:ext cx="153619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item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consumer end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750808" y="2926080"/>
            <a:ext cx="393192" cy="182880"/>
          </a:xfrm>
          <a:prstGeom prst="rightArrow">
            <a:avLst/>
          </a:prstGeom>
          <a:solidFill>
            <a:srgbClr val="6B7280"/>
          </a:solidFill>
        </p:spPr>
      </p:sp>
      <p:sp>
        <p:nvSpPr>
          <p:cNvPr id="25" name="Shape 19"/>
          <p:cNvSpPr/>
          <p:nvPr/>
        </p:nvSpPr>
        <p:spPr>
          <a:xfrm>
            <a:off x="9198864" y="2331720"/>
            <a:ext cx="1682496" cy="1371600"/>
          </a:xfrm>
          <a:prstGeom prst="roundRect">
            <a:avLst>
              <a:gd name="adj" fmla="val 4667"/>
            </a:avLst>
          </a:prstGeom>
          <a:solidFill>
            <a:srgbClr val="2B2E33"/>
          </a:solidFill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icons/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4" y="2478024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44584" y="2953512"/>
            <a:ext cx="1591056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272016" y="3319272"/>
            <a:ext cx="153619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removed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processed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3483864" y="3703320"/>
            <a:ext cx="0" cy="64008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5669280" y="3703320"/>
            <a:ext cx="0" cy="64008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7854696" y="3703320"/>
            <a:ext cx="0" cy="64008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4539996" y="4343400"/>
            <a:ext cx="3108960" cy="960120"/>
          </a:xfrm>
          <a:prstGeom prst="roundRect">
            <a:avLst>
              <a:gd name="adj" fmla="val 6667"/>
            </a:avLst>
          </a:prstGeom>
          <a:solidFill>
            <a:srgbClr val="24272B"/>
          </a:solidFill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33" name="Image 5" descr="icons/micro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164" y="4562856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08676" y="4507992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 / MEGA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408676" y="4800600"/>
            <a:ext cx="2148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controller — reads sensors, drives motor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566928" y="5623560"/>
            <a:ext cx="104241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Dashed lines show the Arduino's control &amp; sensing links — it reads both sensors and signals the motor driver to advance the belt, coordinating producer and consumer exactly like a synchronization primitive guards a shared buffer.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+ THEORY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27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Components &amp; OS Concepts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50876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COMPONENTS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icons/microchi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39696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75688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Uno / Mega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2386584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controller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" y="2953512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icons/c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27248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063240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DC Motor + Driver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371600" y="3374136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Drives the conveyor belt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66928" y="3941064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Image 2" descr="icons/sen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050792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IR / Ultrasonic Sensors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371600" y="4361688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items at each end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66928" y="4928616"/>
            <a:ext cx="51206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3" descr="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0235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5038344"/>
            <a:ext cx="4206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LEDs &amp; Buzzer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371600" y="534924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indication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190488" y="150876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 CONCEPTS APPLIED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190488" y="1965960"/>
            <a:ext cx="5120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3" name="Image 4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16712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13448" y="2093976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Bounded Buffer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013448" y="2395728"/>
            <a:ext cx="4160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conveyor belt has fixed capacity — sensors stop it from overflowing or running empty, just like a bounded buffer in OS theory.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190488" y="3191256"/>
            <a:ext cx="5120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7" name="Image 5" descr="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392424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13448" y="3319272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Exclusion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7013448" y="3621024"/>
            <a:ext cx="4160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one item passes through each sensor gate at a time, preventing conflicting access to the shared belt.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6190488" y="4416552"/>
            <a:ext cx="512064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1" name="Image 6" descr="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617720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13448" y="4544568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Synchronization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7013448" y="4846320"/>
            <a:ext cx="4160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Arduino coordinates producer and consumer through sensor signals — functioning like a semaphore between the two stations.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D970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427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515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operates as a five-stage cycle, moving one item at a time from producer to consumer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55548" y="2286000"/>
            <a:ext cx="0" cy="3364992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6928" y="2148840"/>
            <a:ext cx="777240" cy="7772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7" name="Text 5"/>
          <p:cNvSpPr/>
          <p:nvPr/>
        </p:nvSpPr>
        <p:spPr>
          <a:xfrm>
            <a:off x="566928" y="2148840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213055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&amp;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33288" y="2130552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Assemble Arduino, sensors, motor driver, and conveyor frame; wire and calibrate the circuit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990088"/>
            <a:ext cx="777240" cy="7772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1" name="Text 9"/>
          <p:cNvSpPr/>
          <p:nvPr/>
        </p:nvSpPr>
        <p:spPr>
          <a:xfrm>
            <a:off x="566928" y="2990088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64208" y="297180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Placed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33288" y="2971800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Producer places an item; entry sensor detects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831336"/>
            <a:ext cx="777240" cy="7772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5" name="Text 13"/>
          <p:cNvSpPr/>
          <p:nvPr/>
        </p:nvSpPr>
        <p:spPr>
          <a:xfrm>
            <a:off x="566928" y="3831336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64208" y="3813048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Belt Moves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33288" y="3813048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Arduino signals the motor driver to advance the belt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672584"/>
            <a:ext cx="777240" cy="777240"/>
          </a:xfrm>
          <a:prstGeom prst="ellipse">
            <a:avLst/>
          </a:prstGeom>
          <a:solidFill>
            <a:srgbClr val="2B2E33"/>
          </a:solidFill>
        </p:spPr>
      </p:sp>
      <p:sp>
        <p:nvSpPr>
          <p:cNvPr id="19" name="Text 17"/>
          <p:cNvSpPr/>
          <p:nvPr/>
        </p:nvSpPr>
        <p:spPr>
          <a:xfrm>
            <a:off x="566928" y="4672584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64208" y="4654296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Arrives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33288" y="4654296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sensor detects the item at the consumer 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513832"/>
            <a:ext cx="777240" cy="777240"/>
          </a:xfrm>
          <a:prstGeom prst="ellipse">
            <a:avLst/>
          </a:prstGeom>
          <a:solidFill>
            <a:srgbClr val="FF8A3D"/>
          </a:solidFill>
        </p:spPr>
      </p:sp>
      <p:sp>
        <p:nvSpPr>
          <p:cNvPr id="23" name="Text 21"/>
          <p:cNvSpPr/>
          <p:nvPr/>
        </p:nvSpPr>
        <p:spPr>
          <a:xfrm>
            <a:off x="566928" y="5513832"/>
            <a:ext cx="777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64208" y="5495544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7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Removed &amp; Validated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33288" y="5495544"/>
            <a:ext cx="5120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0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takes the item; belt state updates and the cycle is logged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F5F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&amp; 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5544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2B2E33"/>
          </a:solidFill>
        </p:spPr>
      </p:sp>
      <p:pic>
        <p:nvPicPr>
          <p:cNvPr id="5" name="Image 0" descr="icons/indust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40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4168" y="2057400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 packaging &amp; sorting lines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299008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2B2E33"/>
          </a:solidFill>
        </p:spPr>
      </p:sp>
      <p:pic>
        <p:nvPicPr>
          <p:cNvPr id="8" name="Image 1" descr="icons/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17296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44168" y="2990088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 &amp; inventory automation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66928" y="392277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2B2E33"/>
          </a:solidFill>
        </p:spPr>
      </p:sp>
      <p:pic>
        <p:nvPicPr>
          <p:cNvPr id="11" name="Image 2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05656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4168" y="3922776"/>
            <a:ext cx="4206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5F5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Assembly line automation in manufacturing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190488" y="15544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pic>
        <p:nvPicPr>
          <p:cNvPr id="14" name="Image 3" descr="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8208" y="14630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90488" y="2057400"/>
            <a:ext cx="51206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demonstrates synchronization between producer and consumer stations using Arduino sensing and control. Provides a scalable, low-cost base model for real industrial automation systems. Confirms that classic computing concepts translate directly into effective physical automation.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190488" y="388620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2B2E33"/>
          </a:solidFill>
        </p:spPr>
      </p:sp>
      <p:sp>
        <p:nvSpPr>
          <p:cNvPr id="17" name="Text 11"/>
          <p:cNvSpPr/>
          <p:nvPr/>
        </p:nvSpPr>
        <p:spPr>
          <a:xfrm>
            <a:off x="6419088" y="4005072"/>
            <a:ext cx="4663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419088" y="42976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C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connectivity  •  multiple producers/consumers  •  load sensing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778240" y="502920"/>
            <a:ext cx="182880" cy="182880"/>
          </a:xfrm>
          <a:prstGeom prst="ellipse">
            <a:avLst/>
          </a:prstGeom>
          <a:solidFill>
            <a:srgbClr val="FF8A3D"/>
          </a:solidFill>
        </p:spPr>
      </p:sp>
      <p:sp>
        <p:nvSpPr>
          <p:cNvPr id="20" name="Shape 14"/>
          <p:cNvSpPr/>
          <p:nvPr/>
        </p:nvSpPr>
        <p:spPr>
          <a:xfrm>
            <a:off x="9198864" y="502920"/>
            <a:ext cx="182880" cy="182880"/>
          </a:xfrm>
          <a:prstGeom prst="ellipse">
            <a:avLst/>
          </a:prstGeom>
          <a:solidFill>
            <a:srgbClr val="6B7280"/>
          </a:solidFill>
        </p:spPr>
      </p:sp>
      <p:sp>
        <p:nvSpPr>
          <p:cNvPr id="21" name="Shape 15"/>
          <p:cNvSpPr/>
          <p:nvPr/>
        </p:nvSpPr>
        <p:spPr>
          <a:xfrm>
            <a:off x="9610344" y="502920"/>
            <a:ext cx="182880" cy="182880"/>
          </a:xfrm>
          <a:prstGeom prst="ellipse">
            <a:avLst/>
          </a:prstGeom>
          <a:solidFill>
            <a:srgbClr val="FF8A3D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3749</Words>
  <Application>WPS Presentation</Application>
  <PresentationFormat>On-screen Show (16:9)</PresentationFormat>
  <Paragraphs>203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LALIT CHOUDHARY</cp:lastModifiedBy>
  <cp:revision>2</cp:revision>
  <dcterms:created xsi:type="dcterms:W3CDTF">2026-07-30T08:06:00Z</dcterms:created>
  <dcterms:modified xsi:type="dcterms:W3CDTF">2026-08-22T04:08:57Z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1D88A35FAC934083A47A7F59076CC939_12</vt:lpwstr>
  </property>
  <property fmtid="{D5CDD505-2E9C-101B-9397-08002B2CF9AE}" pid="3" name="KSOProductBuildVer">
    <vt:lpwstr>1033-12.1.0.28032</vt:lpwstr>
  </property>
</Properties>
</file>